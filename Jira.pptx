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7" r:id="rId7"/>
    <p:sldId id="268" r:id="rId8"/>
    <p:sldId id="262" r:id="rId9"/>
    <p:sldId id="263" r:id="rId10"/>
    <p:sldId id="264" r:id="rId11"/>
    <p:sldId id="260" r:id="rId12"/>
    <p:sldId id="265" r:id="rId13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>
        <p:scale>
          <a:sx n="77" d="100"/>
          <a:sy n="77" d="100"/>
        </p:scale>
        <p:origin x="10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7T12:07:34.7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0,'3'13,"3"5,1 1,9-2,10-3,0-1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12:08:12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1539 24575,'2'-2'0,"0"-1"0,0 1 0,0 0 0,1-1 0,-1 1 0,1 0 0,0 1 0,5-4 0,-2 1 0,114-73 0,134-62 0,-107 61 0,-11 4 0,497-262 0,25 50 0,-308 172 0,397-76 0,221 49 0,144 63 0,7 90 0,-287 67 0,-573-40 0,296 85 0,-144 19 0,-12 29 0,-320-137 0,113 57 0,-4 8 0,199 141 0,-325-198 0,-2 3 0,-2 2 0,-2 3 0,-2 3 0,-3 1 0,86 122 0,-114-139 0,-1 0 0,-2 2 0,-2 0 0,-1 1 0,16 64 0,-25-70 0,-2 0 0,-1 1 0,-1 0 0,-3 0 0,0 0 0,-3 0 0,-8 51 0,3-52 0,-1 1 0,-2-1 0,-2 0 0,-1-1 0,-1-1 0,-2 0 0,-2-1 0,-35 50 0,19-38 0,-2-2 0,-1-1 0,-3-3 0,-1-1 0,-49 35 0,-18 2 0,-201 106 0,-140 20 0,230-121 0,-3-9 0,-398 70 0,-477-18 0,-629-68 0,884-93 0,240 9 0,-497-81 0,806 70 0,-605-103 0,720 104 0,2-7 0,-335-138 0,417 141 0,1-4 0,-105-73 0,158 93 0,0-2 0,3-2 0,0-2 0,2-1 0,2-2 0,-54-75 0,72 87 0,1 0 0,1-1 0,1-1 0,1 0 0,1-1 0,2 0 0,1-1 0,1 1 0,1-1 0,2 0 0,1-1 0,2-33 0,2 30 0,1 1 0,3 0 0,0 0 0,2 1 0,1 0 0,1 0 0,2 1 0,2 0 0,0 1 0,33-49 0,-15 35 0,2 1 0,2 2 0,1 1 0,3 3 0,0 0 0,47-29 0,-22 21 0,3 3 0,1 3 0,108-43 0,-9 24-1365,-80 32-5461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15DAB-5D7D-4AB6-91CB-75A9A9A0BC9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D2276-5126-4369-92C4-FDF0D454F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21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1pPr>
    <a:lvl2pPr marL="396140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2pPr>
    <a:lvl3pPr marL="792282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3pPr>
    <a:lvl4pPr marL="1188421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4pPr>
    <a:lvl5pPr marL="1584562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5pPr>
    <a:lvl6pPr marL="1980702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6pPr>
    <a:lvl7pPr marL="2376842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7pPr>
    <a:lvl8pPr marL="2772984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8pPr>
    <a:lvl9pPr marL="3169123" algn="l" defTabSz="792282" rtl="0" eaLnBrk="1" latinLnBrk="0" hangingPunct="1">
      <a:defRPr sz="10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D2276-5126-4369-92C4-FDF0D454FE2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007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D2276-5126-4369-92C4-FDF0D454FE2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708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D2276-5126-4369-92C4-FDF0D454FE2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027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138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85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37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24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39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893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51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1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54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64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49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4A7B1-CB76-4398-A64B-5ED30D8B75C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1963E-248E-4FA2-B942-874EBC2A9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06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D9E4-529C-EAF4-730C-A2FC318C3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48286" y="452325"/>
            <a:ext cx="5385876" cy="57687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       Introduction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81042-134A-A3E1-7AEF-094377B2E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83918"/>
            <a:ext cx="2943298" cy="460326"/>
          </a:xfrm>
        </p:spPr>
        <p:txBody>
          <a:bodyPr>
            <a:normAutofit fontScale="92500"/>
          </a:bodyPr>
          <a:lstStyle/>
          <a:p>
            <a:pPr marL="265912" indent="-265912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002060"/>
                </a:solidFill>
              </a:rPr>
              <a:t>Introduction of Jira :-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DF494-206B-B63D-2A91-65CD82C19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837" y="78467"/>
            <a:ext cx="2287163" cy="626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48F8E3-0CFE-FBCE-5109-76EA971DE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05" y="5829955"/>
            <a:ext cx="2074403" cy="75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E358D2-0E56-46DA-1EA1-F16864B3A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58" y="1028045"/>
            <a:ext cx="7369747" cy="1241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F6FBE8-8184-9B8A-07BC-016B9B7672F7}"/>
              </a:ext>
            </a:extLst>
          </p:cNvPr>
          <p:cNvSpPr txBox="1"/>
          <p:nvPr/>
        </p:nvSpPr>
        <p:spPr>
          <a:xfrm>
            <a:off x="570536" y="1656519"/>
            <a:ext cx="6512167" cy="76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96" b="1" dirty="0">
                <a:solidFill>
                  <a:srgbClr val="002060"/>
                </a:solidFill>
              </a:rPr>
              <a:t>Jira</a:t>
            </a:r>
            <a:r>
              <a:rPr lang="en-US" sz="1396" dirty="0">
                <a:solidFill>
                  <a:srgbClr val="002060"/>
                </a:solidFill>
              </a:rPr>
              <a:t> is a </a:t>
            </a:r>
            <a:r>
              <a:rPr lang="en-US" sz="1396" b="1" dirty="0">
                <a:solidFill>
                  <a:srgbClr val="002060"/>
                </a:solidFill>
              </a:rPr>
              <a:t>project management and issue-tracking tool</a:t>
            </a:r>
            <a:r>
              <a:rPr lang="en-US" sz="1396" dirty="0">
                <a:solidFill>
                  <a:srgbClr val="002060"/>
                </a:solidFill>
              </a:rPr>
              <a:t> developed by </a:t>
            </a:r>
            <a:r>
              <a:rPr lang="en-US" sz="1396" b="1" dirty="0">
                <a:solidFill>
                  <a:srgbClr val="002060"/>
                </a:solidFill>
              </a:rPr>
              <a:t>Atlassian</a:t>
            </a:r>
            <a:r>
              <a:rPr lang="en-US" sz="1396" dirty="0">
                <a:solidFill>
                  <a:srgbClr val="002060"/>
                </a:solidFill>
              </a:rPr>
              <a:t>. It is widely used by </a:t>
            </a:r>
            <a:r>
              <a:rPr lang="en-US" sz="1396" b="1" dirty="0">
                <a:solidFill>
                  <a:srgbClr val="002060"/>
                </a:solidFill>
              </a:rPr>
              <a:t>software development teams</a:t>
            </a:r>
            <a:r>
              <a:rPr lang="en-US" sz="1396" dirty="0">
                <a:solidFill>
                  <a:srgbClr val="002060"/>
                </a:solidFill>
              </a:rPr>
              <a:t> to plan, track, and manage projects efficiently.</a:t>
            </a:r>
            <a:endParaRPr lang="en-IN" sz="1396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F8D4F9-927F-162F-A2A7-19D03752A0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703" y="1324674"/>
            <a:ext cx="1329630" cy="13296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D90DB3-F9CC-8510-F105-7BCE37DA900C}"/>
              </a:ext>
            </a:extLst>
          </p:cNvPr>
          <p:cNvSpPr txBox="1"/>
          <p:nvPr/>
        </p:nvSpPr>
        <p:spPr>
          <a:xfrm>
            <a:off x="0" y="2524142"/>
            <a:ext cx="4727575" cy="39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v"/>
            </a:pPr>
            <a:r>
              <a:rPr lang="en-IN" sz="1861" b="1" dirty="0">
                <a:solidFill>
                  <a:srgbClr val="002060"/>
                </a:solidFill>
              </a:rPr>
              <a:t>Features of Jira :-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3DB3A-BC41-0A88-949A-F8473DD4A211}"/>
              </a:ext>
            </a:extLst>
          </p:cNvPr>
          <p:cNvSpPr txBox="1"/>
          <p:nvPr/>
        </p:nvSpPr>
        <p:spPr>
          <a:xfrm>
            <a:off x="466824" y="3021534"/>
            <a:ext cx="4727575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dirty="0">
                <a:solidFill>
                  <a:srgbClr val="002060"/>
                </a:solidFill>
              </a:rPr>
              <a:t>Issue &amp; Bug Tracking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524A2-7ED3-33C6-D5F5-451B6F009FE3}"/>
              </a:ext>
            </a:extLst>
          </p:cNvPr>
          <p:cNvSpPr txBox="1"/>
          <p:nvPr/>
        </p:nvSpPr>
        <p:spPr>
          <a:xfrm>
            <a:off x="466824" y="3323137"/>
            <a:ext cx="4727575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dirty="0">
                <a:solidFill>
                  <a:srgbClr val="002060"/>
                </a:solidFill>
              </a:rPr>
              <a:t>Agile Project Management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71E08A-0852-6314-0BEB-21EFD67C86F7}"/>
              </a:ext>
            </a:extLst>
          </p:cNvPr>
          <p:cNvSpPr txBox="1"/>
          <p:nvPr/>
        </p:nvSpPr>
        <p:spPr>
          <a:xfrm>
            <a:off x="466824" y="3635223"/>
            <a:ext cx="4727575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dirty="0">
                <a:solidFill>
                  <a:srgbClr val="002060"/>
                </a:solidFill>
              </a:rPr>
              <a:t>Custom Workflows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E152FC-67FB-50FC-24B2-8676C1C50183}"/>
              </a:ext>
            </a:extLst>
          </p:cNvPr>
          <p:cNvSpPr txBox="1"/>
          <p:nvPr/>
        </p:nvSpPr>
        <p:spPr>
          <a:xfrm>
            <a:off x="466824" y="3934363"/>
            <a:ext cx="4727575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dirty="0">
                <a:solidFill>
                  <a:srgbClr val="002060"/>
                </a:solidFill>
              </a:rPr>
              <a:t>Dashboards &amp; Reports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7845D8-9571-2156-0330-48A8680C0311}"/>
              </a:ext>
            </a:extLst>
          </p:cNvPr>
          <p:cNvSpPr txBox="1"/>
          <p:nvPr/>
        </p:nvSpPr>
        <p:spPr>
          <a:xfrm>
            <a:off x="466824" y="4261106"/>
            <a:ext cx="4727575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dirty="0">
                <a:solidFill>
                  <a:srgbClr val="002060"/>
                </a:solidFill>
              </a:rPr>
              <a:t>Integration with Other Tools</a:t>
            </a:r>
          </a:p>
        </p:txBody>
      </p:sp>
    </p:spTree>
    <p:extLst>
      <p:ext uri="{BB962C8B-B14F-4D97-AF65-F5344CB8AC3E}">
        <p14:creationId xmlns:p14="http://schemas.microsoft.com/office/powerpoint/2010/main" val="2219218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9DC8-8A83-933C-C667-AE7A409B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70" y="135513"/>
            <a:ext cx="7432588" cy="922641"/>
          </a:xfrm>
        </p:spPr>
        <p:txBody>
          <a:bodyPr>
            <a:normAutofit/>
          </a:bodyPr>
          <a:lstStyle/>
          <a:p>
            <a:r>
              <a:rPr lang="en-US" sz="3722" b="1" dirty="0">
                <a:solidFill>
                  <a:srgbClr val="002060"/>
                </a:solidFill>
              </a:rPr>
              <a:t>Account Creation</a:t>
            </a:r>
            <a:endParaRPr lang="en-IN" sz="3722" b="1" dirty="0">
              <a:solidFill>
                <a:srgbClr val="00206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CA94F5-03B3-D5AF-AE49-32E37C67E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0" y="1074223"/>
            <a:ext cx="7369747" cy="1241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4925B9-733B-534A-BF89-47C69DBF40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175" y="167642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35ED03-8D58-0022-DF40-66BED7429E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71" y="5933880"/>
            <a:ext cx="2074403" cy="756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366DE-93CB-4E02-5893-B2A3F54FFD6D}"/>
              </a:ext>
            </a:extLst>
          </p:cNvPr>
          <p:cNvSpPr txBox="1"/>
          <p:nvPr/>
        </p:nvSpPr>
        <p:spPr>
          <a:xfrm>
            <a:off x="100671" y="1303625"/>
            <a:ext cx="4727575" cy="34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v"/>
            </a:pPr>
            <a:r>
              <a:rPr lang="en-US" sz="1551" b="1" dirty="0">
                <a:solidFill>
                  <a:srgbClr val="002060"/>
                </a:solidFill>
              </a:rPr>
              <a:t> Step 1: Go to Atlassian’s Official Website</a:t>
            </a:r>
            <a:endParaRPr lang="en-IN" sz="1551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38653-8AAE-804C-DB5F-1F3D33010B0B}"/>
              </a:ext>
            </a:extLst>
          </p:cNvPr>
          <p:cNvSpPr txBox="1"/>
          <p:nvPr/>
        </p:nvSpPr>
        <p:spPr>
          <a:xfrm>
            <a:off x="459053" y="1590047"/>
            <a:ext cx="4727575" cy="539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96" b="1" dirty="0">
                <a:solidFill>
                  <a:srgbClr val="002060"/>
                </a:solidFill>
              </a:rPr>
              <a:t>Open your browser and visit:</a:t>
            </a:r>
            <a:br>
              <a:rPr lang="en-US" sz="1396" b="1" dirty="0">
                <a:solidFill>
                  <a:srgbClr val="002060"/>
                </a:solidFill>
              </a:rPr>
            </a:br>
            <a:r>
              <a:rPr lang="en-US" sz="1396" dirty="0">
                <a:solidFill>
                  <a:srgbClr val="002060"/>
                </a:solidFill>
              </a:rPr>
              <a:t>https://www.atlassian.com/</a:t>
            </a:r>
            <a:endParaRPr lang="en-IN" sz="1396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88DF7-945F-1CCE-78F1-DAF04362F3C8}"/>
              </a:ext>
            </a:extLst>
          </p:cNvPr>
          <p:cNvSpPr txBox="1"/>
          <p:nvPr/>
        </p:nvSpPr>
        <p:spPr>
          <a:xfrm>
            <a:off x="100671" y="2096226"/>
            <a:ext cx="4727575" cy="34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v"/>
            </a:pPr>
            <a:r>
              <a:rPr lang="en-US" sz="1551" b="1" dirty="0">
                <a:solidFill>
                  <a:srgbClr val="002060"/>
                </a:solidFill>
              </a:rPr>
              <a:t> Step 2: Click on “Log in” or “Try for free”</a:t>
            </a:r>
            <a:endParaRPr lang="en-IN" sz="1551" b="1" dirty="0">
              <a:solidFill>
                <a:srgbClr val="002060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CF31F6A-5D43-C45F-055D-A22483994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055" y="2506760"/>
            <a:ext cx="6660167" cy="51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0914" tIns="35457" rIns="70914" bIns="35457" numCol="1" anchor="ctr" anchorCtr="0" compatLnSpc="1">
            <a:prstTxWarp prst="textNoShape">
              <a:avLst/>
            </a:prstTxWarp>
            <a:spAutoFit/>
          </a:bodyPr>
          <a:lstStyle/>
          <a:p>
            <a:pPr defTabSz="7091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On the top-right corner, click </a:t>
            </a:r>
            <a:r>
              <a:rPr lang="en-US" altLang="en-US" sz="1396" b="1" dirty="0">
                <a:solidFill>
                  <a:srgbClr val="002060"/>
                </a:solidFill>
                <a:latin typeface="Arial" panose="020B0604020202020204" pitchFamily="34" charset="0"/>
              </a:rPr>
              <a:t>“Try for free”</a:t>
            </a: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 if you want to create a new account.</a:t>
            </a:r>
          </a:p>
          <a:p>
            <a:pPr defTabSz="7091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Or, click </a:t>
            </a:r>
            <a:r>
              <a:rPr lang="en-US" altLang="en-US" sz="1396" b="1" dirty="0">
                <a:solidFill>
                  <a:srgbClr val="002060"/>
                </a:solidFill>
                <a:latin typeface="Arial" panose="020B0604020202020204" pitchFamily="34" charset="0"/>
              </a:rPr>
              <a:t>“Log in” → “Sign up for an account”</a:t>
            </a: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 if you’re registering fresh.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CEDF2-8B3F-D591-C7CB-80D4586AEFC0}"/>
              </a:ext>
            </a:extLst>
          </p:cNvPr>
          <p:cNvSpPr txBox="1"/>
          <p:nvPr/>
        </p:nvSpPr>
        <p:spPr>
          <a:xfrm>
            <a:off x="161671" y="3122833"/>
            <a:ext cx="4308194" cy="34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v"/>
            </a:pPr>
            <a:r>
              <a:rPr lang="en-US" sz="1551" b="1" dirty="0">
                <a:solidFill>
                  <a:srgbClr val="002060"/>
                </a:solidFill>
              </a:rPr>
              <a:t>Step 3: Enter Your Email Address</a:t>
            </a:r>
            <a:endParaRPr lang="en-IN" sz="1551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D1142-AD84-ACAF-97AD-4B4A4FB2559D}"/>
              </a:ext>
            </a:extLst>
          </p:cNvPr>
          <p:cNvSpPr txBox="1"/>
          <p:nvPr/>
        </p:nvSpPr>
        <p:spPr>
          <a:xfrm>
            <a:off x="398051" y="3418911"/>
            <a:ext cx="6649106" cy="76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96" dirty="0">
                <a:solidFill>
                  <a:srgbClr val="002060"/>
                </a:solidFill>
              </a:rPr>
              <a:t>Type your </a:t>
            </a:r>
            <a:r>
              <a:rPr lang="en-US" sz="1396" b="1" dirty="0">
                <a:solidFill>
                  <a:srgbClr val="002060"/>
                </a:solidFill>
              </a:rPr>
              <a:t>email ID</a:t>
            </a:r>
            <a:r>
              <a:rPr lang="en-US" sz="1396" dirty="0">
                <a:solidFill>
                  <a:srgbClr val="002060"/>
                </a:solidFill>
              </a:rPr>
              <a:t> (preferably your work or Gmail account).</a:t>
            </a:r>
          </a:p>
          <a:p>
            <a:r>
              <a:rPr lang="en-US" sz="1396" dirty="0">
                <a:solidFill>
                  <a:srgbClr val="002060"/>
                </a:solidFill>
              </a:rPr>
              <a:t>Click </a:t>
            </a:r>
            <a:r>
              <a:rPr lang="en-US" sz="1396" b="1" dirty="0">
                <a:solidFill>
                  <a:srgbClr val="002060"/>
                </a:solidFill>
              </a:rPr>
              <a:t>“Continue”</a:t>
            </a:r>
            <a:r>
              <a:rPr lang="en-US" sz="1396" dirty="0">
                <a:solidFill>
                  <a:srgbClr val="002060"/>
                </a:solidFill>
              </a:rPr>
              <a:t>.</a:t>
            </a:r>
          </a:p>
          <a:p>
            <a:r>
              <a:rPr lang="en-US" sz="1396" dirty="0">
                <a:solidFill>
                  <a:srgbClr val="002060"/>
                </a:solidFill>
              </a:rPr>
              <a:t>You may also choose to </a:t>
            </a:r>
            <a:r>
              <a:rPr lang="en-US" sz="1396" b="1" dirty="0">
                <a:solidFill>
                  <a:srgbClr val="002060"/>
                </a:solidFill>
              </a:rPr>
              <a:t>sign up using Google</a:t>
            </a:r>
            <a:r>
              <a:rPr lang="en-US" sz="1396" dirty="0">
                <a:solidFill>
                  <a:srgbClr val="002060"/>
                </a:solidFill>
              </a:rPr>
              <a:t> or </a:t>
            </a:r>
            <a:r>
              <a:rPr lang="en-US" sz="1396" b="1" dirty="0">
                <a:solidFill>
                  <a:srgbClr val="002060"/>
                </a:solidFill>
              </a:rPr>
              <a:t>Microsoft account</a:t>
            </a:r>
            <a:r>
              <a:rPr lang="en-US" sz="1396" dirty="0">
                <a:solidFill>
                  <a:srgbClr val="002060"/>
                </a:solidFill>
              </a:rPr>
              <a:t> for faster login.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86C582-74E8-E941-7F17-788A67FBDB14}"/>
              </a:ext>
            </a:extLst>
          </p:cNvPr>
          <p:cNvSpPr txBox="1"/>
          <p:nvPr/>
        </p:nvSpPr>
        <p:spPr>
          <a:xfrm>
            <a:off x="161673" y="4194646"/>
            <a:ext cx="4727575" cy="34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v"/>
            </a:pPr>
            <a:r>
              <a:rPr lang="en-US" sz="1551" b="1" dirty="0">
                <a:solidFill>
                  <a:srgbClr val="002060"/>
                </a:solidFill>
              </a:rPr>
              <a:t>Step 5: Set Up Your Password</a:t>
            </a:r>
            <a:endParaRPr lang="en-IN" sz="1551" b="1" dirty="0">
              <a:solidFill>
                <a:srgbClr val="002060"/>
              </a:solidFill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F8D02EB7-8269-4FFC-2434-F24969C32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51" y="4508345"/>
            <a:ext cx="6063979" cy="51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0914" tIns="35457" rIns="70914" bIns="35457" numCol="1" anchor="ctr" anchorCtr="0" compatLnSpc="1">
            <a:prstTxWarp prst="textNoShape">
              <a:avLst/>
            </a:prstTxWarp>
            <a:spAutoFit/>
          </a:bodyPr>
          <a:lstStyle/>
          <a:p>
            <a:pPr defTabSz="7091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After verification, you’ll be asked to create a </a:t>
            </a:r>
            <a:r>
              <a:rPr lang="en-US" altLang="en-US" sz="1396" b="1" dirty="0">
                <a:solidFill>
                  <a:srgbClr val="002060"/>
                </a:solidFill>
                <a:latin typeface="Arial" panose="020B0604020202020204" pitchFamily="34" charset="0"/>
              </a:rPr>
              <a:t>password</a:t>
            </a: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 for your account.</a:t>
            </a:r>
          </a:p>
          <a:p>
            <a:pPr defTabSz="7091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Choose a strong password and click </a:t>
            </a:r>
            <a:r>
              <a:rPr lang="en-US" altLang="en-US" sz="1396" b="1" dirty="0">
                <a:solidFill>
                  <a:srgbClr val="002060"/>
                </a:solidFill>
                <a:latin typeface="Arial" panose="020B0604020202020204" pitchFamily="34" charset="0"/>
              </a:rPr>
              <a:t>Next</a:t>
            </a: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A59060-14F6-72B2-1DE4-93C3644A99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656" y="4992046"/>
            <a:ext cx="3629001" cy="169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9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F16B-6D17-E1A1-0D0E-5AD115DA6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32" y="418674"/>
            <a:ext cx="8155067" cy="3061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551" b="1" dirty="0">
                <a:solidFill>
                  <a:srgbClr val="002060"/>
                </a:solidFill>
              </a:rPr>
              <a:t>  Step 6: Choose Your Product</a:t>
            </a:r>
            <a:endParaRPr lang="en-IN" sz="1551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D4F7C-0D15-2C8D-B0F5-253FDC22A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846" y="98322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2B5785-C764-B5C1-190A-99420EE74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7" y="5883906"/>
            <a:ext cx="2074403" cy="756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30461D-59A7-E8B1-6A94-2F4675ED258D}"/>
              </a:ext>
            </a:extLst>
          </p:cNvPr>
          <p:cNvSpPr txBox="1"/>
          <p:nvPr/>
        </p:nvSpPr>
        <p:spPr>
          <a:xfrm>
            <a:off x="359555" y="628080"/>
            <a:ext cx="4727575" cy="539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96" dirty="0">
                <a:solidFill>
                  <a:srgbClr val="002060"/>
                </a:solidFill>
              </a:rPr>
              <a:t>You’ll now see options like:</a:t>
            </a:r>
          </a:p>
          <a:p>
            <a:pPr marL="221594" indent="-221594">
              <a:buFont typeface="Wingdings" panose="05000000000000000000" pitchFamily="2" charset="2"/>
              <a:buChar char="q"/>
            </a:pPr>
            <a:r>
              <a:rPr lang="en-US" sz="1396" b="1" dirty="0">
                <a:solidFill>
                  <a:srgbClr val="002060"/>
                </a:solidFill>
              </a:rPr>
              <a:t>Jira Software</a:t>
            </a:r>
            <a:endParaRPr lang="en-US" sz="1396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E75EC-CD53-1852-A507-F03B792EF09A}"/>
              </a:ext>
            </a:extLst>
          </p:cNvPr>
          <p:cNvSpPr txBox="1"/>
          <p:nvPr/>
        </p:nvSpPr>
        <p:spPr>
          <a:xfrm>
            <a:off x="359555" y="1052099"/>
            <a:ext cx="4727575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96" dirty="0">
                <a:solidFill>
                  <a:srgbClr val="002060"/>
                </a:solidFill>
              </a:rPr>
              <a:t>Select </a:t>
            </a:r>
            <a:r>
              <a:rPr lang="en-US" sz="1396" b="1" dirty="0">
                <a:solidFill>
                  <a:srgbClr val="002060"/>
                </a:solidFill>
              </a:rPr>
              <a:t>Jira Software</a:t>
            </a:r>
            <a:r>
              <a:rPr lang="en-US" sz="1396" dirty="0">
                <a:solidFill>
                  <a:srgbClr val="002060"/>
                </a:solidFill>
              </a:rPr>
              <a:t> and click </a:t>
            </a:r>
            <a:r>
              <a:rPr lang="en-US" sz="1396" b="1" dirty="0">
                <a:solidFill>
                  <a:srgbClr val="002060"/>
                </a:solidFill>
              </a:rPr>
              <a:t>“Try it free”</a:t>
            </a:r>
            <a:r>
              <a:rPr lang="en-US" sz="1396" dirty="0">
                <a:solidFill>
                  <a:srgbClr val="002060"/>
                </a:solidFill>
              </a:rPr>
              <a:t>.</a:t>
            </a:r>
            <a:endParaRPr lang="en-IN" sz="1396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614C5-7E01-144A-76D8-268BECB8B601}"/>
              </a:ext>
            </a:extLst>
          </p:cNvPr>
          <p:cNvSpPr txBox="1"/>
          <p:nvPr/>
        </p:nvSpPr>
        <p:spPr>
          <a:xfrm>
            <a:off x="109832" y="1301498"/>
            <a:ext cx="4727575" cy="34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v"/>
            </a:pPr>
            <a:r>
              <a:rPr lang="en-US" sz="1551" b="1" dirty="0">
                <a:solidFill>
                  <a:srgbClr val="002060"/>
                </a:solidFill>
              </a:rPr>
              <a:t> Step 7: Create Your Site</a:t>
            </a:r>
            <a:endParaRPr lang="en-IN" sz="1551" b="1" dirty="0">
              <a:solidFill>
                <a:srgbClr val="002060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CD5D03C-8EB3-7B03-C4FE-2C68EFE32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57" y="1607564"/>
            <a:ext cx="3896437" cy="73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0914" tIns="35457" rIns="70914" bIns="35457" numCol="1" anchor="ctr" anchorCtr="0" compatLnSpc="1">
            <a:prstTxWarp prst="textNoShape">
              <a:avLst/>
            </a:prstTxWarp>
            <a:spAutoFit/>
          </a:bodyPr>
          <a:lstStyle/>
          <a:p>
            <a:pPr defTabSz="7091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Enter your </a:t>
            </a:r>
            <a:r>
              <a:rPr lang="en-US" altLang="en-US" sz="1396" b="1" dirty="0">
                <a:solidFill>
                  <a:srgbClr val="002060"/>
                </a:solidFill>
                <a:latin typeface="Arial" panose="020B0604020202020204" pitchFamily="34" charset="0"/>
              </a:rPr>
              <a:t>team name or project name</a:t>
            </a: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.</a:t>
            </a:r>
          </a:p>
          <a:p>
            <a:pPr defTabSz="7091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Choose a </a:t>
            </a:r>
            <a:r>
              <a:rPr lang="en-US" altLang="en-US" sz="1396" b="1" dirty="0">
                <a:solidFill>
                  <a:srgbClr val="002060"/>
                </a:solidFill>
                <a:latin typeface="Arial" panose="020B0604020202020204" pitchFamily="34" charset="0"/>
              </a:rPr>
              <a:t>site URL</a:t>
            </a: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 (example: </a:t>
            </a:r>
            <a:r>
              <a:rPr lang="en-US" altLang="en-US" sz="776" dirty="0">
                <a:solidFill>
                  <a:srgbClr val="002060"/>
                </a:solidFill>
                <a:latin typeface="Arial Unicode MS"/>
              </a:rPr>
              <a:t>rays.atlassian.net</a:t>
            </a:r>
            <a:r>
              <a:rPr lang="en-US" altLang="en-US" sz="620" dirty="0">
                <a:solidFill>
                  <a:srgbClr val="002060"/>
                </a:solidFill>
              </a:rPr>
              <a:t>).</a:t>
            </a:r>
            <a:endParaRPr lang="en-US" altLang="en-US" sz="1396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defTabSz="7091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96" dirty="0">
                <a:solidFill>
                  <a:srgbClr val="002060"/>
                </a:solidFill>
                <a:latin typeface="Arial" panose="020B0604020202020204" pitchFamily="34" charset="0"/>
              </a:rPr>
              <a:t>Click </a:t>
            </a:r>
            <a:r>
              <a:rPr lang="en-US" altLang="en-US" sz="1396" b="1" dirty="0">
                <a:solidFill>
                  <a:srgbClr val="002060"/>
                </a:solidFill>
                <a:latin typeface="Arial" panose="020B0604020202020204" pitchFamily="34" charset="0"/>
              </a:rPr>
              <a:t>“Continue</a:t>
            </a:r>
            <a:r>
              <a:rPr lang="en-US" altLang="en-US" sz="1396" b="1" dirty="0">
                <a:latin typeface="Arial" panose="020B0604020202020204" pitchFamily="34" charset="0"/>
              </a:rPr>
              <a:t>”</a:t>
            </a:r>
            <a:r>
              <a:rPr lang="en-US" altLang="en-US" sz="1396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97C78-A6FC-9050-636C-C8E4FC904689}"/>
              </a:ext>
            </a:extLst>
          </p:cNvPr>
          <p:cNvSpPr txBox="1"/>
          <p:nvPr/>
        </p:nvSpPr>
        <p:spPr>
          <a:xfrm>
            <a:off x="86957" y="2451477"/>
            <a:ext cx="4727575" cy="589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v"/>
            </a:pPr>
            <a:r>
              <a:rPr lang="en-US" sz="1551" b="1" dirty="0"/>
              <a:t> </a:t>
            </a:r>
            <a:r>
              <a:rPr lang="en-US" sz="1551" b="1" dirty="0">
                <a:solidFill>
                  <a:srgbClr val="002060"/>
                </a:solidFill>
              </a:rPr>
              <a:t>Step 8: Set Up Your First Project</a:t>
            </a:r>
            <a:br>
              <a:rPr lang="en-US" sz="1551" b="1" dirty="0">
                <a:solidFill>
                  <a:srgbClr val="002060"/>
                </a:solidFill>
              </a:rPr>
            </a:br>
            <a:endParaRPr lang="en-US" sz="1551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2221A2-E309-738F-C2BF-A3FD791D1880}"/>
              </a:ext>
            </a:extLst>
          </p:cNvPr>
          <p:cNvSpPr txBox="1"/>
          <p:nvPr/>
        </p:nvSpPr>
        <p:spPr>
          <a:xfrm>
            <a:off x="260429" y="2702097"/>
            <a:ext cx="4727575" cy="539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96" dirty="0">
                <a:solidFill>
                  <a:srgbClr val="002060"/>
                </a:solidFill>
              </a:rPr>
              <a:t> Choose your project type: </a:t>
            </a:r>
            <a:r>
              <a:rPr lang="en-US" sz="1396" b="1" dirty="0">
                <a:solidFill>
                  <a:srgbClr val="002060"/>
                </a:solidFill>
              </a:rPr>
              <a:t>Scrum </a:t>
            </a:r>
            <a:br>
              <a:rPr lang="en-US" sz="1396" b="1" dirty="0">
                <a:solidFill>
                  <a:srgbClr val="002060"/>
                </a:solidFill>
              </a:rPr>
            </a:br>
            <a:r>
              <a:rPr lang="en-US" sz="1396" b="1" dirty="0">
                <a:solidFill>
                  <a:srgbClr val="002060"/>
                </a:solidFill>
              </a:rPr>
              <a:t> </a:t>
            </a:r>
            <a:r>
              <a:rPr lang="en-US" sz="1396" dirty="0">
                <a:solidFill>
                  <a:srgbClr val="002060"/>
                </a:solidFill>
              </a:rPr>
              <a:t>Jira will create a sample project dashboard for you.</a:t>
            </a:r>
            <a:endParaRPr lang="en-IN" sz="13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EFED99-F85A-9F93-3C9D-FA2097E52A55}"/>
              </a:ext>
            </a:extLst>
          </p:cNvPr>
          <p:cNvSpPr txBox="1"/>
          <p:nvPr/>
        </p:nvSpPr>
        <p:spPr>
          <a:xfrm>
            <a:off x="86957" y="3269724"/>
            <a:ext cx="4727575" cy="34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v"/>
            </a:pPr>
            <a:r>
              <a:rPr lang="en-US" sz="1551" b="1" dirty="0">
                <a:solidFill>
                  <a:srgbClr val="002060"/>
                </a:solidFill>
              </a:rPr>
              <a:t>Step 9: Start Using Jira</a:t>
            </a:r>
            <a:endParaRPr lang="en-IN" sz="1551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5296FF-54FC-E516-7A35-FF08B214EEA7}"/>
              </a:ext>
            </a:extLst>
          </p:cNvPr>
          <p:cNvSpPr txBox="1"/>
          <p:nvPr/>
        </p:nvSpPr>
        <p:spPr>
          <a:xfrm>
            <a:off x="359555" y="3558811"/>
            <a:ext cx="4727575" cy="76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96" dirty="0">
                <a:solidFill>
                  <a:srgbClr val="002060"/>
                </a:solidFill>
              </a:rPr>
              <a:t>You’re done!</a:t>
            </a:r>
            <a:br>
              <a:rPr lang="en-US" sz="1396" dirty="0">
                <a:solidFill>
                  <a:srgbClr val="002060"/>
                </a:solidFill>
              </a:rPr>
            </a:br>
            <a:r>
              <a:rPr lang="en-US" sz="1396" dirty="0">
                <a:solidFill>
                  <a:srgbClr val="002060"/>
                </a:solidFill>
              </a:rPr>
              <a:t>You can now start creating </a:t>
            </a:r>
            <a:r>
              <a:rPr lang="en-US" sz="1396" b="1" dirty="0">
                <a:solidFill>
                  <a:srgbClr val="002060"/>
                </a:solidFill>
              </a:rPr>
              <a:t>issues, boards, and sprints</a:t>
            </a:r>
            <a:r>
              <a:rPr lang="en-US" sz="1396" dirty="0">
                <a:solidFill>
                  <a:srgbClr val="002060"/>
                </a:solidFill>
              </a:rPr>
              <a:t> in Jira from your dashboard.</a:t>
            </a:r>
            <a:endParaRPr lang="en-IN" sz="1396" dirty="0">
              <a:solidFill>
                <a:srgbClr val="00206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4C1D34-E1C1-FA8D-FB1F-36A6B979C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530" y="4098852"/>
            <a:ext cx="4727575" cy="254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3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F1D39-2C07-0D3F-F21D-7592FB90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888" y="461835"/>
            <a:ext cx="6492572" cy="47896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Agile Structure / Hierarchy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A830-480F-1CCF-B205-023D75C19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12" y="4349544"/>
            <a:ext cx="2601119" cy="589774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2060"/>
                </a:solidFill>
              </a:rPr>
              <a:t> Spring contains user stories.</a:t>
            </a:r>
          </a:p>
          <a:p>
            <a:pPr marL="0" indent="0">
              <a:buNone/>
            </a:pPr>
            <a:br>
              <a:rPr lang="en-IN" sz="1551" dirty="0"/>
            </a:br>
            <a:endParaRPr lang="en-IN" sz="155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14304-A121-E741-6550-CE422A50B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175" y="143280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733949-36B2-C764-27BD-1C9A2163F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88" y="5901133"/>
            <a:ext cx="2074403" cy="75647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4356AB-BED2-536B-6089-1D61601DE9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88" y="1321590"/>
            <a:ext cx="7369747" cy="124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2229D7-B5C6-2260-A14F-DF638BF745CA}"/>
              </a:ext>
            </a:extLst>
          </p:cNvPr>
          <p:cNvSpPr txBox="1"/>
          <p:nvPr/>
        </p:nvSpPr>
        <p:spPr>
          <a:xfrm>
            <a:off x="418217" y="1963680"/>
            <a:ext cx="4891514" cy="34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q"/>
            </a:pPr>
            <a:r>
              <a:rPr lang="en-IN" sz="1551" b="1" dirty="0">
                <a:solidFill>
                  <a:srgbClr val="002060"/>
                </a:solidFill>
              </a:rPr>
              <a:t>Epic</a:t>
            </a:r>
            <a:endParaRPr lang="en-IN" sz="155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CAE7D-2228-F22A-49B5-8AFD59096CB7}"/>
              </a:ext>
            </a:extLst>
          </p:cNvPr>
          <p:cNvSpPr txBox="1"/>
          <p:nvPr/>
        </p:nvSpPr>
        <p:spPr>
          <a:xfrm>
            <a:off x="457883" y="2179427"/>
            <a:ext cx="8155067" cy="49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ü"/>
            </a:pPr>
            <a:r>
              <a:rPr lang="en-US" sz="1241" dirty="0">
                <a:solidFill>
                  <a:srgbClr val="002060"/>
                </a:solidFill>
                <a:latin typeface="Helvetica Neue"/>
              </a:rPr>
              <a:t>A large feature of a project's requirements. which is broken down into smaller, manageable parts.</a:t>
            </a:r>
          </a:p>
          <a:p>
            <a:pPr marL="221594" indent="-221594">
              <a:buFont typeface="Wingdings" panose="05000000000000000000" pitchFamily="2" charset="2"/>
              <a:buChar char="ü"/>
            </a:pPr>
            <a:r>
              <a:rPr lang="en-US" sz="1241" dirty="0">
                <a:solidFill>
                  <a:srgbClr val="002060"/>
                </a:solidFill>
                <a:latin typeface="Helvetica Neue"/>
              </a:rPr>
              <a:t>Epic contains user stories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3EA62-BCAD-7E38-E9E4-1F01C4B29F56}"/>
              </a:ext>
            </a:extLst>
          </p:cNvPr>
          <p:cNvSpPr txBox="1"/>
          <p:nvPr/>
        </p:nvSpPr>
        <p:spPr>
          <a:xfrm>
            <a:off x="418217" y="2541536"/>
            <a:ext cx="4891514" cy="589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q"/>
            </a:pPr>
            <a:r>
              <a:rPr lang="en-IN" sz="1551" b="1" dirty="0">
                <a:solidFill>
                  <a:srgbClr val="002060"/>
                </a:solidFill>
                <a:latin typeface="Helvetica Neue"/>
              </a:rPr>
              <a:t>User</a:t>
            </a:r>
            <a:r>
              <a:rPr lang="en-IN" sz="1551" b="1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IN" sz="1551" b="1" dirty="0">
                <a:solidFill>
                  <a:srgbClr val="002060"/>
                </a:solidFill>
                <a:latin typeface="Helvetica Neue"/>
              </a:rPr>
              <a:t>Stories</a:t>
            </a:r>
            <a:r>
              <a:rPr lang="en-IN" sz="1551" dirty="0">
                <a:solidFill>
                  <a:srgbClr val="333333"/>
                </a:solidFill>
                <a:latin typeface="Helvetica Neue"/>
              </a:rPr>
              <a:t>:</a:t>
            </a:r>
            <a:br>
              <a:rPr lang="en-IN" sz="1551" dirty="0">
                <a:solidFill>
                  <a:srgbClr val="333333"/>
                </a:solidFill>
                <a:latin typeface="Helvetica Neue"/>
              </a:rPr>
            </a:br>
            <a:endParaRPr lang="en-IN" sz="155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BEE8E-97DC-800A-A7CF-382C49DD6B79}"/>
              </a:ext>
            </a:extLst>
          </p:cNvPr>
          <p:cNvSpPr txBox="1"/>
          <p:nvPr/>
        </p:nvSpPr>
        <p:spPr>
          <a:xfrm>
            <a:off x="483988" y="2812593"/>
            <a:ext cx="7108519" cy="68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ü"/>
            </a:pPr>
            <a:r>
              <a:rPr lang="en-US" sz="1241" dirty="0">
                <a:solidFill>
                  <a:srgbClr val="002060"/>
                </a:solidFill>
                <a:latin typeface="Helvetica Neue"/>
              </a:rPr>
              <a:t>Smaller components derived from an Epic.</a:t>
            </a:r>
          </a:p>
          <a:p>
            <a:pPr marL="221594" indent="-221594">
              <a:buFont typeface="Wingdings" panose="05000000000000000000" pitchFamily="2" charset="2"/>
              <a:buChar char="ü"/>
            </a:pPr>
            <a:r>
              <a:rPr lang="en-US" sz="1241" dirty="0">
                <a:solidFill>
                  <a:srgbClr val="002060"/>
                </a:solidFill>
                <a:latin typeface="Helvetica Neue"/>
              </a:rPr>
              <a:t>Describes specific features or functionalities from the user's perspective.</a:t>
            </a:r>
          </a:p>
          <a:p>
            <a:pPr marL="221594" indent="-221594">
              <a:buFont typeface="Wingdings" panose="05000000000000000000" pitchFamily="2" charset="2"/>
              <a:buChar char="ü"/>
            </a:pPr>
            <a:r>
              <a:rPr lang="en-US" sz="1241" dirty="0">
                <a:solidFill>
                  <a:srgbClr val="002060"/>
                </a:solidFill>
                <a:latin typeface="Helvetica Neue"/>
              </a:rPr>
              <a:t>User stories contain tasks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30101A-849C-4D05-539E-5FD7E20BD4F9}"/>
              </a:ext>
            </a:extLst>
          </p:cNvPr>
          <p:cNvSpPr txBox="1"/>
          <p:nvPr/>
        </p:nvSpPr>
        <p:spPr>
          <a:xfrm>
            <a:off x="444907" y="3409757"/>
            <a:ext cx="4891514" cy="589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551" b="1" dirty="0">
                <a:solidFill>
                  <a:srgbClr val="002060"/>
                </a:solidFill>
                <a:latin typeface="Helvetica Neue"/>
              </a:rPr>
              <a:t>Tasks</a:t>
            </a:r>
            <a:r>
              <a:rPr lang="en-IN" sz="1551" dirty="0">
                <a:solidFill>
                  <a:srgbClr val="333333"/>
                </a:solidFill>
                <a:latin typeface="Helvetica Neue"/>
              </a:rPr>
              <a:t>:</a:t>
            </a:r>
            <a:br>
              <a:rPr lang="en-IN" sz="1551" dirty="0">
                <a:solidFill>
                  <a:srgbClr val="333333"/>
                </a:solidFill>
                <a:latin typeface="Helvetica Neue"/>
              </a:rPr>
            </a:br>
            <a:endParaRPr lang="en-IN" sz="155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29C495-E270-20DC-D298-C697857ADD1A}"/>
              </a:ext>
            </a:extLst>
          </p:cNvPr>
          <p:cNvSpPr txBox="1"/>
          <p:nvPr/>
        </p:nvSpPr>
        <p:spPr>
          <a:xfrm>
            <a:off x="97723" y="3671473"/>
            <a:ext cx="6602402" cy="816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6144" lvl="1" indent="-221594">
              <a:spcAft>
                <a:spcPts val="582"/>
              </a:spcAft>
              <a:buFont typeface="Wingdings" panose="05000000000000000000" pitchFamily="2" charset="2"/>
              <a:buChar char="ü"/>
            </a:pPr>
            <a:r>
              <a:rPr lang="en-US" sz="1241" dirty="0">
                <a:solidFill>
                  <a:srgbClr val="002060"/>
                </a:solidFill>
                <a:latin typeface="Helvetica Neue"/>
              </a:rPr>
              <a:t>User stories are broken into tasks.</a:t>
            </a:r>
          </a:p>
          <a:p>
            <a:pPr>
              <a:buNone/>
            </a:pPr>
            <a:br>
              <a:rPr lang="en-US" sz="1396" dirty="0"/>
            </a:br>
            <a:endParaRPr lang="en-IN" sz="139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DCB8FC-BF05-867B-9550-DF8E38A792C9}"/>
              </a:ext>
            </a:extLst>
          </p:cNvPr>
          <p:cNvSpPr txBox="1"/>
          <p:nvPr/>
        </p:nvSpPr>
        <p:spPr>
          <a:xfrm>
            <a:off x="457880" y="3915616"/>
            <a:ext cx="4891514" cy="292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ü"/>
            </a:pPr>
            <a:r>
              <a:rPr lang="en-US" sz="1241" dirty="0">
                <a:solidFill>
                  <a:srgbClr val="002060"/>
                </a:solidFill>
                <a:latin typeface="Helvetica Neue"/>
              </a:rPr>
              <a:t>They are actions required to complete a User Story.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F00E4E-89B2-2A97-BA9E-5DF07A4951F4}"/>
              </a:ext>
            </a:extLst>
          </p:cNvPr>
          <p:cNvSpPr txBox="1"/>
          <p:nvPr/>
        </p:nvSpPr>
        <p:spPr>
          <a:xfrm>
            <a:off x="97726" y="1736583"/>
            <a:ext cx="9201854" cy="521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96" dirty="0">
                <a:solidFill>
                  <a:srgbClr val="002060"/>
                </a:solidFill>
              </a:rPr>
              <a:t>In agile project management, </a:t>
            </a:r>
            <a:r>
              <a:rPr lang="en-US" sz="1396" b="1" dirty="0">
                <a:solidFill>
                  <a:srgbClr val="002060"/>
                </a:solidFill>
              </a:rPr>
              <a:t>Epics</a:t>
            </a:r>
            <a:r>
              <a:rPr lang="en-US" sz="1396" dirty="0">
                <a:solidFill>
                  <a:srgbClr val="002060"/>
                </a:solidFill>
              </a:rPr>
              <a:t>, </a:t>
            </a:r>
            <a:r>
              <a:rPr lang="en-US" sz="1396" b="1" dirty="0">
                <a:solidFill>
                  <a:srgbClr val="002060"/>
                </a:solidFill>
              </a:rPr>
              <a:t>User Stories</a:t>
            </a:r>
            <a:r>
              <a:rPr lang="en-US" sz="1396" dirty="0">
                <a:solidFill>
                  <a:srgbClr val="002060"/>
                </a:solidFill>
              </a:rPr>
              <a:t>, </a:t>
            </a:r>
            <a:r>
              <a:rPr lang="en-US" sz="1396" b="1" dirty="0">
                <a:solidFill>
                  <a:srgbClr val="002060"/>
                </a:solidFill>
              </a:rPr>
              <a:t>Tasks</a:t>
            </a:r>
            <a:r>
              <a:rPr lang="en-US" sz="1396" dirty="0">
                <a:solidFill>
                  <a:srgbClr val="002060"/>
                </a:solidFill>
              </a:rPr>
              <a:t>, and </a:t>
            </a:r>
            <a:r>
              <a:rPr lang="en-US" sz="1396" b="1" dirty="0">
                <a:solidFill>
                  <a:srgbClr val="002060"/>
                </a:solidFill>
              </a:rPr>
              <a:t>Sprints</a:t>
            </a:r>
            <a:r>
              <a:rPr lang="en-US" sz="1396" dirty="0">
                <a:solidFill>
                  <a:srgbClr val="002060"/>
                </a:solidFill>
              </a:rPr>
              <a:t> are related in a hierarchical and organizational manner:</a:t>
            </a:r>
            <a:br>
              <a:rPr lang="en-US" sz="1396" dirty="0">
                <a:solidFill>
                  <a:srgbClr val="002060"/>
                </a:solidFill>
              </a:rPr>
            </a:br>
            <a:endParaRPr lang="en-IN" sz="139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53196F-E449-2D2F-8DAE-AD397C56476A}"/>
              </a:ext>
            </a:extLst>
          </p:cNvPr>
          <p:cNvSpPr txBox="1"/>
          <p:nvPr/>
        </p:nvSpPr>
        <p:spPr>
          <a:xfrm>
            <a:off x="444910" y="4137735"/>
            <a:ext cx="5478648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b="1" dirty="0">
                <a:solidFill>
                  <a:srgbClr val="002060"/>
                </a:solidFill>
                <a:latin typeface="Helvetica Neue"/>
              </a:rPr>
              <a:t>Sprint</a:t>
            </a:r>
            <a:endParaRPr lang="en-IN" sz="1396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D46947-6825-0B47-F9BB-ACFBB37546D8}"/>
              </a:ext>
            </a:extLst>
          </p:cNvPr>
          <p:cNvSpPr txBox="1"/>
          <p:nvPr/>
        </p:nvSpPr>
        <p:spPr>
          <a:xfrm>
            <a:off x="457882" y="4612849"/>
            <a:ext cx="8564950" cy="934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ü"/>
            </a:pPr>
            <a:r>
              <a:rPr lang="en-US" sz="1241" dirty="0">
                <a:solidFill>
                  <a:srgbClr val="002060"/>
                </a:solidFill>
                <a:latin typeface="Helvetica Neue"/>
              </a:rPr>
              <a:t>Spring is an iteration, in which planned user stories are coded and tested. One spring is completed in 2 to 4 weeks. In our project, our sprint is of 2 weeks.</a:t>
            </a:r>
          </a:p>
          <a:p>
            <a:pPr>
              <a:buNone/>
            </a:pPr>
            <a:br>
              <a:rPr lang="en-US" sz="1396" dirty="0"/>
            </a:br>
            <a:endParaRPr lang="en-IN" sz="1396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5A81D3-7237-CF44-45C3-67182A348DE3}"/>
              </a:ext>
            </a:extLst>
          </p:cNvPr>
          <p:cNvSpPr txBox="1"/>
          <p:nvPr/>
        </p:nvSpPr>
        <p:spPr>
          <a:xfrm>
            <a:off x="3500678" y="3621111"/>
            <a:ext cx="5798905" cy="539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1396" dirty="0"/>
            </a:br>
            <a:endParaRPr lang="en-IN" sz="1396" dirty="0"/>
          </a:p>
        </p:txBody>
      </p:sp>
    </p:spTree>
    <p:extLst>
      <p:ext uri="{BB962C8B-B14F-4D97-AF65-F5344CB8AC3E}">
        <p14:creationId xmlns:p14="http://schemas.microsoft.com/office/powerpoint/2010/main" val="3433677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4F6F9-CCD6-E4DA-B4CF-D3FF86519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28AC-50FA-7CCC-D9FD-97D8ABE2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46" y="34175"/>
            <a:ext cx="4390163" cy="906356"/>
          </a:xfrm>
        </p:spPr>
        <p:txBody>
          <a:bodyPr>
            <a:normAutofit/>
          </a:bodyPr>
          <a:lstStyle/>
          <a:p>
            <a:r>
              <a:rPr lang="en-IN" sz="3102" b="1" dirty="0">
                <a:solidFill>
                  <a:srgbClr val="002060"/>
                </a:solidFill>
              </a:rPr>
              <a:t>Relationship Flow: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913C2-3765-57CF-13C1-C41902ADE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991" y="109333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C9DADB-5477-6F31-DBC1-1D1D3C0BC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42" y="5951216"/>
            <a:ext cx="2074403" cy="75647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2ACDDB-33B2-EDE3-6E72-B46EB04DF3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46" y="1024802"/>
            <a:ext cx="7369747" cy="124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7D8B60-9943-F8AC-9AA0-AA687240F25B}"/>
              </a:ext>
            </a:extLst>
          </p:cNvPr>
          <p:cNvSpPr txBox="1"/>
          <p:nvPr/>
        </p:nvSpPr>
        <p:spPr>
          <a:xfrm>
            <a:off x="215670" y="1492500"/>
            <a:ext cx="5602398" cy="89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spcAft>
                <a:spcPts val="582"/>
              </a:spcAft>
              <a:buFont typeface="Wingdings" panose="05000000000000000000" pitchFamily="2" charset="2"/>
              <a:buChar char="q"/>
            </a:pPr>
            <a:r>
              <a:rPr lang="en-US" sz="1396" b="1" dirty="0">
                <a:solidFill>
                  <a:srgbClr val="002060"/>
                </a:solidFill>
                <a:latin typeface="Helvetica Neue"/>
              </a:rPr>
              <a:t>Epics are divided into User Stories.</a:t>
            </a:r>
          </a:p>
          <a:p>
            <a:pPr marL="221594" indent="-221594">
              <a:spcAft>
                <a:spcPts val="582"/>
              </a:spcAft>
              <a:buFont typeface="Wingdings" panose="05000000000000000000" pitchFamily="2" charset="2"/>
              <a:buChar char="q"/>
            </a:pPr>
            <a:r>
              <a:rPr lang="en-US" sz="1396" b="1" dirty="0">
                <a:solidFill>
                  <a:srgbClr val="002060"/>
                </a:solidFill>
                <a:latin typeface="Helvetica Neue"/>
              </a:rPr>
              <a:t>User Stories are further broken down into Tasks.</a:t>
            </a:r>
          </a:p>
          <a:p>
            <a:pPr marL="221594" indent="-221594">
              <a:spcAft>
                <a:spcPts val="582"/>
              </a:spcAft>
              <a:buFont typeface="Wingdings" panose="05000000000000000000" pitchFamily="2" charset="2"/>
              <a:buChar char="q"/>
            </a:pPr>
            <a:r>
              <a:rPr lang="en-US" sz="1396" b="1" dirty="0">
                <a:solidFill>
                  <a:srgbClr val="002060"/>
                </a:solidFill>
                <a:latin typeface="Helvetica Neue"/>
              </a:rPr>
              <a:t>Tasks are planned and executed within a Sprint.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29EB1A-629E-7A15-FEEF-6CD1851D4F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81" y="2556550"/>
            <a:ext cx="3776957" cy="30675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F709E2-B36D-93C1-637D-14546A3B2B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447" y="2556550"/>
            <a:ext cx="4703325" cy="263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15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98EF-024C-5E31-6495-0B5C65DD5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C4751DF-44F6-1BEF-48B5-55699DC8A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13" y="877529"/>
            <a:ext cx="6283156" cy="5102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D767D8-6974-3B71-3296-927C390F8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6" y="5833229"/>
            <a:ext cx="2074403" cy="7564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EF7599-5A83-0F3E-0328-CC0C8CDD1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649" y="148662"/>
            <a:ext cx="2287163" cy="62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2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358CC19-DE45-A39C-C593-5E70F5C76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46" y="887765"/>
            <a:ext cx="8432907" cy="49454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0AE921-38C3-ACB2-59D9-8E80AA33A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649" y="148662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DA0CD-7220-0182-1439-122928E72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6" y="5833229"/>
            <a:ext cx="2074403" cy="7564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BB3762-88E7-0954-ABBF-D5CF75DD3D54}"/>
                  </a:ext>
                </a:extLst>
              </p14:cNvPr>
              <p14:cNvContentPartPr/>
              <p14:nvPr/>
            </p14:nvContentPartPr>
            <p14:xfrm>
              <a:off x="3769634" y="1861541"/>
              <a:ext cx="30240" cy="3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BB3762-88E7-0954-ABBF-D5CF75DD3D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63514" y="1855421"/>
                <a:ext cx="424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D5DF80-3435-DFE1-A0F5-3855295FFAD2}"/>
                  </a:ext>
                </a:extLst>
              </p14:cNvPr>
              <p14:cNvContentPartPr/>
              <p14:nvPr/>
            </p14:nvContentPartPr>
            <p14:xfrm>
              <a:off x="2589554" y="1089341"/>
              <a:ext cx="3812760" cy="133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D5DF80-3435-DFE1-A0F5-3855295FFA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3434" y="1083221"/>
                <a:ext cx="3825000" cy="134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5172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0B96E-ACB9-ACA6-5010-C3C24C84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00" y="20046"/>
            <a:ext cx="8155067" cy="102800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Create Epic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478AB-1873-70AC-7009-ADBC9B157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686" y="132575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1F4AE7-A86E-7AC3-AEE8-4E6A34517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00" y="5941384"/>
            <a:ext cx="2074403" cy="75647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47125E-3E33-6E63-2298-1A8149963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8" y="1098521"/>
            <a:ext cx="7369747" cy="124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F0DE55-A568-7BD6-CF08-AE75E26DAEE0}"/>
              </a:ext>
            </a:extLst>
          </p:cNvPr>
          <p:cNvSpPr txBox="1"/>
          <p:nvPr/>
        </p:nvSpPr>
        <p:spPr>
          <a:xfrm>
            <a:off x="290498" y="1519084"/>
            <a:ext cx="5055455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b="1" dirty="0">
                <a:solidFill>
                  <a:srgbClr val="002060"/>
                </a:solidFill>
              </a:rPr>
              <a:t>Click on “+ Create Epic.”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A4D6CE-B847-992B-DD7C-708FE2E5B072}"/>
              </a:ext>
            </a:extLst>
          </p:cNvPr>
          <p:cNvSpPr txBox="1"/>
          <p:nvPr/>
        </p:nvSpPr>
        <p:spPr>
          <a:xfrm>
            <a:off x="290498" y="1847704"/>
            <a:ext cx="5055455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b="1" dirty="0">
                <a:solidFill>
                  <a:srgbClr val="002060"/>
                </a:solidFill>
              </a:rPr>
              <a:t>Fill in the details: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733BDA3-19D4-DA33-7EAD-1BBD92541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311" y="2127637"/>
            <a:ext cx="4069616" cy="466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0914" tIns="35457" rIns="70914" bIns="35457" numCol="1" anchor="ctr" anchorCtr="0" compatLnSpc="1">
            <a:prstTxWarp prst="textNoShape">
              <a:avLst/>
            </a:prstTxWarp>
            <a:spAutoFit/>
          </a:bodyPr>
          <a:lstStyle/>
          <a:p>
            <a:pPr marL="221594" indent="-221594" defTabSz="7091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241" b="1" dirty="0">
                <a:solidFill>
                  <a:srgbClr val="002060"/>
                </a:solidFill>
                <a:latin typeface="Arial" panose="020B0604020202020204" pitchFamily="34" charset="0"/>
              </a:rPr>
              <a:t>Epic Name:</a:t>
            </a:r>
            <a:r>
              <a:rPr lang="en-US" altLang="en-US" sz="1241" dirty="0">
                <a:solidFill>
                  <a:srgbClr val="002060"/>
                </a:solidFill>
                <a:latin typeface="Arial" panose="020B0604020202020204" pitchFamily="34" charset="0"/>
              </a:rPr>
              <a:t> e.g., “User Authentication System”</a:t>
            </a:r>
          </a:p>
          <a:p>
            <a:pPr marL="221594" indent="-221594" defTabSz="7091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241" b="1" dirty="0">
                <a:solidFill>
                  <a:srgbClr val="002060"/>
                </a:solidFill>
                <a:latin typeface="Arial" panose="020B0604020202020204" pitchFamily="34" charset="0"/>
              </a:rPr>
              <a:t>Summary:</a:t>
            </a:r>
            <a:r>
              <a:rPr lang="en-US" altLang="en-US" sz="1241" dirty="0">
                <a:solidFill>
                  <a:srgbClr val="002060"/>
                </a:solidFill>
                <a:latin typeface="Arial" panose="020B0604020202020204" pitchFamily="34" charset="0"/>
              </a:rPr>
              <a:t> Short description of the epic’s purpose.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062B24-7C27-7A40-47A8-551E507912A1}"/>
              </a:ext>
            </a:extLst>
          </p:cNvPr>
          <p:cNvSpPr txBox="1"/>
          <p:nvPr/>
        </p:nvSpPr>
        <p:spPr>
          <a:xfrm>
            <a:off x="290498" y="2718917"/>
            <a:ext cx="5055455" cy="34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912" indent="-265912">
              <a:buFont typeface="Wingdings" panose="05000000000000000000" pitchFamily="2" charset="2"/>
              <a:buChar char="q"/>
            </a:pPr>
            <a:r>
              <a:rPr lang="en-IN" sz="1551" b="1" dirty="0">
                <a:solidFill>
                  <a:srgbClr val="002060"/>
                </a:solidFill>
              </a:rPr>
              <a:t>Click Create.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E894DE-CED9-4D79-A2F7-C1C6F63F91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448" y="2988482"/>
            <a:ext cx="5411285" cy="340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3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6F7C-8C48-660C-0224-760C2EA9B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63" y="-60582"/>
            <a:ext cx="8155067" cy="1028001"/>
          </a:xfrm>
        </p:spPr>
        <p:txBody>
          <a:bodyPr>
            <a:normAutofit/>
          </a:bodyPr>
          <a:lstStyle/>
          <a:p>
            <a:r>
              <a:rPr lang="en-IN" sz="3102" b="1" dirty="0">
                <a:solidFill>
                  <a:srgbClr val="002060"/>
                </a:solidFill>
              </a:rPr>
              <a:t>Create Epic</a:t>
            </a:r>
            <a:endParaRPr lang="en-IN" sz="3102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B51A6-F9B3-B827-6001-60D41222C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74" y="172588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55E7EE-6A56-038A-314A-197862032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51" y="5980713"/>
            <a:ext cx="2074403" cy="75647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2DB0AC-675A-DCC0-89AA-9BB3A1C4C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68" y="897064"/>
            <a:ext cx="7369747" cy="1241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FAEE9A-6DD6-359A-55D9-AA2D070165D2}"/>
              </a:ext>
            </a:extLst>
          </p:cNvPr>
          <p:cNvSpPr txBox="1"/>
          <p:nvPr/>
        </p:nvSpPr>
        <p:spPr>
          <a:xfrm>
            <a:off x="220063" y="1319780"/>
            <a:ext cx="5036393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US" sz="1396" b="1" dirty="0">
                <a:solidFill>
                  <a:srgbClr val="002060"/>
                </a:solidFill>
              </a:rPr>
              <a:t>In your project, click “Create” (top navigation bar).</a:t>
            </a:r>
            <a:endParaRPr lang="en-IN" sz="1396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81486-9E92-F980-0B1F-EA8F01882455}"/>
              </a:ext>
            </a:extLst>
          </p:cNvPr>
          <p:cNvSpPr txBox="1"/>
          <p:nvPr/>
        </p:nvSpPr>
        <p:spPr>
          <a:xfrm>
            <a:off x="220063" y="1598100"/>
            <a:ext cx="5036393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US" sz="1396" b="1" dirty="0">
                <a:solidFill>
                  <a:srgbClr val="002060"/>
                </a:solidFill>
              </a:rPr>
              <a:t>From the Issue Type dropdown, select “Story.”</a:t>
            </a:r>
            <a:endParaRPr lang="en-IN" sz="1396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4779B7-7F80-E114-9970-3A902BCDDC6A}"/>
              </a:ext>
            </a:extLst>
          </p:cNvPr>
          <p:cNvSpPr txBox="1"/>
          <p:nvPr/>
        </p:nvSpPr>
        <p:spPr>
          <a:xfrm>
            <a:off x="220063" y="1884525"/>
            <a:ext cx="5036393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b="1" dirty="0">
                <a:solidFill>
                  <a:srgbClr val="002060"/>
                </a:solidFill>
              </a:rPr>
              <a:t>Fill in details: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114928A-BC64-F410-94F0-D17DF325F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59" y="2161207"/>
            <a:ext cx="5808916" cy="663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0914" tIns="35457" rIns="70914" bIns="35457" numCol="1" anchor="ctr" anchorCtr="0" compatLnSpc="1">
            <a:prstTxWarp prst="textNoShape">
              <a:avLst/>
            </a:prstTxWarp>
            <a:spAutoFit/>
          </a:bodyPr>
          <a:lstStyle/>
          <a:p>
            <a:pPr marL="221594" indent="-221594" defTabSz="7091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241" b="1" dirty="0">
                <a:solidFill>
                  <a:srgbClr val="002060"/>
                </a:solidFill>
                <a:latin typeface="Arial" panose="020B0604020202020204" pitchFamily="34" charset="0"/>
              </a:rPr>
              <a:t>Summary:</a:t>
            </a:r>
            <a:r>
              <a:rPr lang="en-US" altLang="en-US" sz="1241" dirty="0">
                <a:solidFill>
                  <a:srgbClr val="002060"/>
                </a:solidFill>
                <a:latin typeface="Arial" panose="020B0604020202020204" pitchFamily="34" charset="0"/>
              </a:rPr>
              <a:t> e.g., “As a user, I want to log in using my email and password.”</a:t>
            </a:r>
          </a:p>
          <a:p>
            <a:pPr marL="221594" indent="-221594" defTabSz="7091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241" b="1" dirty="0">
                <a:solidFill>
                  <a:srgbClr val="002060"/>
                </a:solidFill>
                <a:latin typeface="Arial" panose="020B0604020202020204" pitchFamily="34" charset="0"/>
              </a:rPr>
              <a:t>Description:</a:t>
            </a:r>
            <a:r>
              <a:rPr lang="en-US" altLang="en-US" sz="1241" dirty="0">
                <a:solidFill>
                  <a:srgbClr val="002060"/>
                </a:solidFill>
                <a:latin typeface="Arial" panose="020B0604020202020204" pitchFamily="34" charset="0"/>
              </a:rPr>
              <a:t> Write acceptance criteria or more details.</a:t>
            </a:r>
          </a:p>
          <a:p>
            <a:pPr marL="221594" indent="-221594" defTabSz="7091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241" b="1" dirty="0">
                <a:solidFill>
                  <a:srgbClr val="002060"/>
                </a:solidFill>
                <a:latin typeface="Arial" panose="020B0604020202020204" pitchFamily="34" charset="0"/>
              </a:rPr>
              <a:t>Epic Link:</a:t>
            </a:r>
            <a:r>
              <a:rPr lang="en-US" altLang="en-US" sz="1241" dirty="0">
                <a:solidFill>
                  <a:srgbClr val="002060"/>
                </a:solidFill>
                <a:latin typeface="Arial" panose="020B0604020202020204" pitchFamily="34" charset="0"/>
              </a:rPr>
              <a:t> Select the Epic you created earlier.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8DAD4-4052-9918-F571-3B528EFFDF00}"/>
              </a:ext>
            </a:extLst>
          </p:cNvPr>
          <p:cNvSpPr txBox="1"/>
          <p:nvPr/>
        </p:nvSpPr>
        <p:spPr>
          <a:xfrm>
            <a:off x="220063" y="2851210"/>
            <a:ext cx="5036393" cy="539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US" sz="1396" dirty="0">
                <a:solidFill>
                  <a:srgbClr val="002060"/>
                </a:solidFill>
              </a:rPr>
              <a:t>Click </a:t>
            </a:r>
            <a:r>
              <a:rPr lang="en-US" sz="1396" b="1" dirty="0">
                <a:solidFill>
                  <a:srgbClr val="002060"/>
                </a:solidFill>
              </a:rPr>
              <a:t>Create.</a:t>
            </a:r>
            <a:br>
              <a:rPr lang="en-US" sz="1396" b="1" dirty="0">
                <a:solidFill>
                  <a:srgbClr val="002060"/>
                </a:solidFill>
              </a:rPr>
            </a:br>
            <a:r>
              <a:rPr lang="en-US" sz="1396" dirty="0">
                <a:solidFill>
                  <a:srgbClr val="002060"/>
                </a:solidFill>
              </a:rPr>
              <a:t> User Story is now linked to your Epic.</a:t>
            </a:r>
            <a:endParaRPr lang="en-IN" sz="1396" dirty="0">
              <a:solidFill>
                <a:srgbClr val="00206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FAB3E8-0081-CC31-BE69-43DF55FFF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475" y="2862821"/>
            <a:ext cx="5036392" cy="36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33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817B-DA5B-F736-E873-60582645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63" y="22858"/>
            <a:ext cx="8155067" cy="1028001"/>
          </a:xfrm>
        </p:spPr>
        <p:txBody>
          <a:bodyPr>
            <a:normAutofit/>
          </a:bodyPr>
          <a:lstStyle/>
          <a:p>
            <a:r>
              <a:rPr lang="en-IN" sz="3102" dirty="0"/>
              <a:t> </a:t>
            </a:r>
            <a:r>
              <a:rPr lang="en-IN" sz="3102" b="1" dirty="0">
                <a:solidFill>
                  <a:srgbClr val="002060"/>
                </a:solidFill>
              </a:rPr>
              <a:t>Create Task</a:t>
            </a:r>
            <a:r>
              <a:rPr lang="en-IN" sz="3102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D27EA0-50FA-7759-FA10-CE9AE2849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189" y="67078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5E5D2B-F2DD-FD9D-A938-0BE554A98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6" y="5980713"/>
            <a:ext cx="2074403" cy="75647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F282BC-029A-337E-5258-C04EB54A59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6" y="973226"/>
            <a:ext cx="7369747" cy="124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B63DA0-0EE1-853A-FEFA-12FFB50A3D07}"/>
              </a:ext>
            </a:extLst>
          </p:cNvPr>
          <p:cNvSpPr txBox="1"/>
          <p:nvPr/>
        </p:nvSpPr>
        <p:spPr>
          <a:xfrm>
            <a:off x="290496" y="1330549"/>
            <a:ext cx="5013516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US" sz="1396" b="1" dirty="0">
                <a:solidFill>
                  <a:srgbClr val="002060"/>
                </a:solidFill>
              </a:rPr>
              <a:t>Open the User Story where you want to add the task.</a:t>
            </a:r>
            <a:endParaRPr lang="en-IN" sz="1396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5ACA3-AC3E-ACFB-BDE3-343671F1C626}"/>
              </a:ext>
            </a:extLst>
          </p:cNvPr>
          <p:cNvSpPr txBox="1"/>
          <p:nvPr/>
        </p:nvSpPr>
        <p:spPr>
          <a:xfrm>
            <a:off x="290496" y="1633265"/>
            <a:ext cx="5013516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b="1" dirty="0">
                <a:solidFill>
                  <a:srgbClr val="002060"/>
                </a:solidFill>
              </a:rPr>
              <a:t>Choose Issue Type → Task.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ED617-7701-8350-7999-DF9E10E66BBF}"/>
              </a:ext>
            </a:extLst>
          </p:cNvPr>
          <p:cNvSpPr txBox="1"/>
          <p:nvPr/>
        </p:nvSpPr>
        <p:spPr>
          <a:xfrm>
            <a:off x="290496" y="1876414"/>
            <a:ext cx="5013516" cy="712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US" sz="1396" b="1" dirty="0">
                <a:solidFill>
                  <a:srgbClr val="002060"/>
                </a:solidFill>
              </a:rPr>
              <a:t>Enter task title like:</a:t>
            </a:r>
          </a:p>
          <a:p>
            <a:r>
              <a:rPr lang="en-US" sz="1241" dirty="0">
                <a:solidFill>
                  <a:srgbClr val="002060"/>
                </a:solidFill>
              </a:rPr>
              <a:t>Design login page UI</a:t>
            </a:r>
          </a:p>
          <a:p>
            <a:r>
              <a:rPr lang="en-US" sz="1241" dirty="0">
                <a:solidFill>
                  <a:srgbClr val="002060"/>
                </a:solidFill>
              </a:rPr>
              <a:t>Connect backend API for login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465ED-F675-1FC5-1001-4146A48FA278}"/>
              </a:ext>
            </a:extLst>
          </p:cNvPr>
          <p:cNvSpPr txBox="1"/>
          <p:nvPr/>
        </p:nvSpPr>
        <p:spPr>
          <a:xfrm>
            <a:off x="290496" y="2510156"/>
            <a:ext cx="5013516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594" indent="-221594">
              <a:buFont typeface="Wingdings" panose="05000000000000000000" pitchFamily="2" charset="2"/>
              <a:buChar char="q"/>
            </a:pPr>
            <a:r>
              <a:rPr lang="en-IN" sz="1396" b="1" dirty="0">
                <a:solidFill>
                  <a:srgbClr val="002060"/>
                </a:solidFill>
              </a:rPr>
              <a:t>Click Create.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E06F75-EF79-F983-6004-41DD184C6F56}"/>
              </a:ext>
            </a:extLst>
          </p:cNvPr>
          <p:cNvSpPr txBox="1"/>
          <p:nvPr/>
        </p:nvSpPr>
        <p:spPr>
          <a:xfrm>
            <a:off x="290496" y="2787880"/>
            <a:ext cx="5013516" cy="317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96" dirty="0">
                <a:solidFill>
                  <a:srgbClr val="002060"/>
                </a:solidFill>
              </a:rPr>
              <a:t>The Task will now appear under that User Story.</a:t>
            </a:r>
            <a:endParaRPr lang="en-IN" sz="1396" dirty="0">
              <a:solidFill>
                <a:srgbClr val="00206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A2F643-98CA-31F9-6A34-B9911225E8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187" y="3148200"/>
            <a:ext cx="5672161" cy="323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9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66D6-AD3B-A81E-EE3A-52E78ED6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33" y="20505"/>
            <a:ext cx="6738701" cy="1028001"/>
          </a:xfrm>
        </p:spPr>
        <p:txBody>
          <a:bodyPr>
            <a:normAutofit/>
          </a:bodyPr>
          <a:lstStyle/>
          <a:p>
            <a:r>
              <a:rPr lang="en-US" sz="3102" b="1" dirty="0">
                <a:solidFill>
                  <a:srgbClr val="002060"/>
                </a:solidFill>
              </a:rPr>
              <a:t>Summary</a:t>
            </a:r>
            <a:endParaRPr lang="en-IN" sz="3102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C5C6E-6AFC-A464-B3FB-3E87450BE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73" y="143280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08F5DC-BE65-3CB1-BFE2-595FBF102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16" y="5931552"/>
            <a:ext cx="2074403" cy="75647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837E44-61A2-6CD9-B11C-99368D955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33" y="1047171"/>
            <a:ext cx="7369747" cy="124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BC0005-DA41-404A-2D77-522E66EE7B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33" y="1818545"/>
            <a:ext cx="8549999" cy="334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08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C0B63E-CEFA-19B0-9E1E-051768FB4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85" y="2256852"/>
            <a:ext cx="7360458" cy="187039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75CC68-7A6E-07C2-D095-6095970D8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022" y="143280"/>
            <a:ext cx="2287163" cy="626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FE61D-929E-4C45-9DEF-5D2EA60D4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0" y="5951216"/>
            <a:ext cx="2074403" cy="7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4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1006</TotalTime>
  <Words>664</Words>
  <Application>Microsoft Office PowerPoint</Application>
  <PresentationFormat>On-screen Show (4:3)</PresentationFormat>
  <Paragraphs>83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Unicode MS</vt:lpstr>
      <vt:lpstr>Calibri</vt:lpstr>
      <vt:lpstr>Calibri Light</vt:lpstr>
      <vt:lpstr>Helvetica Neue</vt:lpstr>
      <vt:lpstr>Wingdings</vt:lpstr>
      <vt:lpstr>Office Theme</vt:lpstr>
      <vt:lpstr>       Introduction</vt:lpstr>
      <vt:lpstr>Account Creation</vt:lpstr>
      <vt:lpstr>PowerPoint Presentation</vt:lpstr>
      <vt:lpstr>Agile Structure / Hierarchy Format</vt:lpstr>
      <vt:lpstr>Relationship Flow:</vt:lpstr>
      <vt:lpstr>PowerPoint Presentation</vt:lpstr>
      <vt:lpstr>PowerPoint Presentation</vt:lpstr>
      <vt:lpstr>Create Epic</vt:lpstr>
      <vt:lpstr>Create Epic</vt:lpstr>
      <vt:lpstr> Create Task 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Kanak Soni</dc:creator>
  <cp:lastModifiedBy>Kanak Soni</cp:lastModifiedBy>
  <cp:revision>26</cp:revision>
  <dcterms:created xsi:type="dcterms:W3CDTF">2025-10-14T07:27:50Z</dcterms:created>
  <dcterms:modified xsi:type="dcterms:W3CDTF">2025-11-07T14:42:56Z</dcterms:modified>
</cp:coreProperties>
</file>